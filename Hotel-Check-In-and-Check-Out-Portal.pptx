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6" r:id="rId9"/>
    <p:sldId id="267" r:id="rId10"/>
    <p:sldId id="268" r:id="rId11"/>
    <p:sldId id="271" r:id="rId12"/>
    <p:sldId id="269" r:id="rId13"/>
    <p:sldId id="270" r:id="rId14"/>
    <p:sldId id="263" r:id="rId15"/>
    <p:sldId id="264" r:id="rId16"/>
  </p:sldIdLst>
  <p:sldSz cx="12192000" cy="6858000"/>
  <p:notesSz cx="6858000" cy="12192000"/>
  <p:embeddedFontLst>
    <p:embeddedFont>
      <p:font typeface="Schibsted Grotesk" panose="020B0604020202020204" charset="0"/>
      <p:regular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260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2096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B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-3-6.sv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3-4.svg"/><Relationship Id="rId5" Type="http://schemas.openxmlformats.org/officeDocument/2006/relationships/image" Target="../media/image3.png"/><Relationship Id="rId10" Type="http://schemas.openxmlformats.org/officeDocument/2006/relationships/image" Target="../media/image-3-8.svg"/><Relationship Id="rId4" Type="http://schemas.openxmlformats.org/officeDocument/2006/relationships/image" Target="../media/image-3-2.svg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2821" y="474433"/>
            <a:ext cx="5343034" cy="2317934"/>
          </a:xfrm>
          <a:prstGeom prst="rect">
            <a:avLst/>
          </a:prstGeom>
        </p:spPr>
      </p:pic>
      <p:sp>
        <p:nvSpPr>
          <p:cNvPr id="3" name="Text 2"/>
          <p:cNvSpPr/>
          <p:nvPr/>
        </p:nvSpPr>
        <p:spPr>
          <a:xfrm>
            <a:off x="713867" y="3416027"/>
            <a:ext cx="10947089" cy="2928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DCE6F8"/>
                </a:solidFill>
                <a:latin typeface="Times New Roman" panose="02020603050405020304" pitchFamily="18" charset="0"/>
                <a:ea typeface="Schibsted Grotesk" pitchFamily="34" charset="-122"/>
                <a:cs typeface="Times New Roman" panose="02020603050405020304" pitchFamily="18" charset="0"/>
              </a:rPr>
              <a:t>Presented </a:t>
            </a:r>
            <a:r>
              <a:rPr lang="en-US" sz="1600" b="1" dirty="0" smtClean="0">
                <a:solidFill>
                  <a:srgbClr val="DCE6F8"/>
                </a:solidFill>
                <a:latin typeface="Times New Roman" panose="02020603050405020304" pitchFamily="18" charset="0"/>
                <a:ea typeface="Schibsted Grotesk" pitchFamily="34" charset="-122"/>
                <a:cs typeface="Times New Roman" panose="02020603050405020304" pitchFamily="18" charset="0"/>
              </a:rPr>
              <a:t>By</a:t>
            </a:r>
          </a:p>
          <a:p>
            <a:pPr marL="0" indent="0" algn="ctr">
              <a:lnSpc>
                <a:spcPct val="95000"/>
              </a:lnSpc>
              <a:buNone/>
            </a:pPr>
            <a:endParaRPr lang="en-US" sz="1600" b="1" dirty="0">
              <a:solidFill>
                <a:srgbClr val="DCE6F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 smtClean="0">
                <a:solidFill>
                  <a:srgbClr val="DCE6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sz="1600" b="1" dirty="0" err="1" smtClean="0">
                <a:solidFill>
                  <a:srgbClr val="DCE6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Sahithi</a:t>
            </a:r>
            <a:r>
              <a:rPr lang="en-US" sz="1600" b="1" dirty="0">
                <a:solidFill>
                  <a:srgbClr val="DCE6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smtClean="0">
                <a:solidFill>
                  <a:srgbClr val="DCE6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25200401111</a:t>
            </a:r>
            <a:br>
              <a:rPr lang="en-US" sz="1600" b="1" dirty="0" smtClean="0">
                <a:solidFill>
                  <a:srgbClr val="DCE6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 smtClean="0">
                <a:solidFill>
                  <a:srgbClr val="DCE6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b="1" dirty="0" smtClean="0">
                <a:solidFill>
                  <a:srgbClr val="DCE6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 err="1" smtClean="0">
                <a:solidFill>
                  <a:srgbClr val="DCE6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sz="1600" b="1" dirty="0" smtClean="0">
                <a:solidFill>
                  <a:srgbClr val="DCE6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Shraddha  2520040105</a:t>
            </a:r>
            <a:br>
              <a:rPr lang="en-US" sz="1600" b="1" dirty="0" smtClean="0">
                <a:solidFill>
                  <a:srgbClr val="DCE6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 smtClean="0">
                <a:solidFill>
                  <a:srgbClr val="DCE6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b="1" dirty="0" smtClean="0">
                <a:solidFill>
                  <a:srgbClr val="DCE6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 smtClean="0">
                <a:solidFill>
                  <a:srgbClr val="DCE6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Taniya         2520040083</a:t>
            </a:r>
            <a:br>
              <a:rPr lang="en-US" sz="1600" b="1" dirty="0" smtClean="0">
                <a:solidFill>
                  <a:srgbClr val="DCE6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 smtClean="0">
                <a:solidFill>
                  <a:srgbClr val="DCE6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b="1" dirty="0" smtClean="0">
                <a:solidFill>
                  <a:srgbClr val="DCE6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 smtClean="0">
                <a:solidFill>
                  <a:srgbClr val="DCE6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Of:</a:t>
            </a:r>
          </a:p>
          <a:p>
            <a:pPr marL="0" indent="0" algn="ctr">
              <a:lnSpc>
                <a:spcPct val="95000"/>
              </a:lnSpc>
              <a:buNone/>
            </a:pPr>
            <a:endParaRPr lang="en-US" sz="1600" b="1" dirty="0" smtClean="0">
              <a:solidFill>
                <a:srgbClr val="DCE6F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 smtClean="0">
                <a:solidFill>
                  <a:srgbClr val="DCE6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sz="1600" b="1" dirty="0" err="1" smtClean="0">
                <a:solidFill>
                  <a:srgbClr val="DCE6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SreeRam</a:t>
            </a:r>
            <a:r>
              <a:rPr lang="en-US" sz="1600" b="1" dirty="0" smtClean="0">
                <a:solidFill>
                  <a:srgbClr val="DCE6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Murthy</a:t>
            </a:r>
            <a:br>
              <a:rPr lang="en-US" sz="1600" b="1" dirty="0" smtClean="0">
                <a:solidFill>
                  <a:srgbClr val="DCE6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 smtClean="0">
                <a:solidFill>
                  <a:srgbClr val="DCE6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sz="1600" b="1" dirty="0" err="1" smtClean="0">
                <a:solidFill>
                  <a:srgbClr val="DCE6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Anusha</a:t>
            </a:r>
            <a:endParaRPr lang="en-US" sz="1600" b="1" dirty="0">
              <a:solidFill>
                <a:srgbClr val="DCE6F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95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3948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709513"/>
            <a:ext cx="10868547" cy="1871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Times New Roman" panose="02020603050405020304" pitchFamily="18" charset="0"/>
                <a:ea typeface="Schibsted Grotesk" pitchFamily="34" charset="-122"/>
                <a:cs typeface="Times New Roman" panose="02020603050405020304" pitchFamily="18" charset="0"/>
              </a:rPr>
              <a:t>Hotel Check-In &amp; Check-Out Portal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371849" y="2970211"/>
            <a:ext cx="7737708" cy="357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DCE6F8"/>
                </a:solidFill>
                <a:latin typeface="Times New Roman" panose="02020603050405020304" pitchFamily="18" charset="0"/>
                <a:ea typeface="Schibsted Grotesk" pitchFamily="34" charset="-122"/>
                <a:cs typeface="Times New Roman" panose="02020603050405020304" pitchFamily="18" charset="0"/>
              </a:rPr>
              <a:t>Smart, Contactless &amp; Efficient Hotel Management System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67924" y="3768824"/>
            <a:ext cx="10855847" cy="30132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240703" y="3838873"/>
            <a:ext cx="5750972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9605" y="4140200"/>
            <a:ext cx="5750972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9605" y="4441527"/>
            <a:ext cx="5750972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40703" y="4441527"/>
            <a:ext cx="5750972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1574" y="4207571"/>
            <a:ext cx="10868547" cy="1230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DCE6F8"/>
                </a:solidFill>
                <a:latin typeface="Times New Roman" panose="02020603050405020304" pitchFamily="18" charset="0"/>
                <a:ea typeface="Schibsted Grotesk" pitchFamily="34" charset="-122"/>
                <a:cs typeface="Times New Roman" panose="02020603050405020304" pitchFamily="18" charset="0"/>
              </a:rPr>
              <a:t>Department:</a:t>
            </a:r>
            <a:r>
              <a:rPr lang="en-US" sz="1600" dirty="0">
                <a:solidFill>
                  <a:srgbClr val="DCE6F8"/>
                </a:solidFill>
                <a:latin typeface="Times New Roman" panose="02020603050405020304" pitchFamily="18" charset="0"/>
                <a:ea typeface="Schibsted Grotesk" pitchFamily="34" charset="-122"/>
                <a:cs typeface="Times New Roman" panose="02020603050405020304" pitchFamily="18" charset="0"/>
              </a:rPr>
              <a:t> Computer Science &amp; Engineering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DCE6F8"/>
                </a:solidFill>
                <a:latin typeface="Times New Roman" panose="02020603050405020304" pitchFamily="18" charset="0"/>
                <a:ea typeface="Schibsted Grotesk" pitchFamily="34" charset="-122"/>
                <a:cs typeface="Times New Roman" panose="02020603050405020304" pitchFamily="18" charset="0"/>
              </a:rPr>
              <a:t>Course:</a:t>
            </a:r>
            <a:r>
              <a:rPr lang="en-US" sz="1600" dirty="0">
                <a:solidFill>
                  <a:srgbClr val="DCE6F8"/>
                </a:solidFill>
                <a:latin typeface="Times New Roman" panose="02020603050405020304" pitchFamily="18" charset="0"/>
                <a:ea typeface="Schibsted Grotesk" pitchFamily="34" charset="-122"/>
                <a:cs typeface="Times New Roman" panose="02020603050405020304" pitchFamily="18" charset="0"/>
              </a:rPr>
              <a:t> Front-End Development Frameworks (FEDF)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DCE6F8"/>
                </a:solidFill>
                <a:latin typeface="Times New Roman" panose="02020603050405020304" pitchFamily="18" charset="0"/>
                <a:ea typeface="Schibsted Grotesk" pitchFamily="34" charset="-122"/>
                <a:cs typeface="Times New Roman" panose="02020603050405020304" pitchFamily="18" charset="0"/>
              </a:rPr>
              <a:t>College:</a:t>
            </a:r>
            <a:r>
              <a:rPr lang="en-US" sz="1600" dirty="0">
                <a:solidFill>
                  <a:srgbClr val="DCE6F8"/>
                </a:solidFill>
                <a:latin typeface="Times New Roman" panose="02020603050405020304" pitchFamily="18" charset="0"/>
                <a:ea typeface="Schibsted Grotesk" pitchFamily="34" charset="-122"/>
                <a:cs typeface="Times New Roman" panose="02020603050405020304" pitchFamily="18" charset="0"/>
              </a:rPr>
              <a:t> KLH University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DCE6F8"/>
                </a:solidFill>
                <a:latin typeface="Times New Roman" panose="02020603050405020304" pitchFamily="18" charset="0"/>
                <a:ea typeface="Schibsted Grotesk" pitchFamily="34" charset="-122"/>
                <a:cs typeface="Times New Roman" panose="02020603050405020304" pitchFamily="18" charset="0"/>
              </a:rPr>
              <a:t>Academic Year:</a:t>
            </a:r>
            <a:r>
              <a:rPr lang="en-US" sz="1600" dirty="0">
                <a:solidFill>
                  <a:srgbClr val="DCE6F8"/>
                </a:solidFill>
                <a:latin typeface="Times New Roman" panose="02020603050405020304" pitchFamily="18" charset="0"/>
                <a:ea typeface="Schibsted Grotesk" pitchFamily="34" charset="-122"/>
                <a:cs typeface="Times New Roman" panose="02020603050405020304" pitchFamily="18" charset="0"/>
              </a:rPr>
              <a:t> 2025–2026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61574" y="5928221"/>
            <a:ext cx="1000298" cy="213916"/>
          </a:xfrm>
          <a:prstGeom prst="roundRect">
            <a:avLst>
              <a:gd name="adj" fmla="val 47715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46602" y="5970687"/>
            <a:ext cx="1439826" cy="128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PROJECT EXPO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732713" y="5921871"/>
            <a:ext cx="1638755" cy="226616"/>
          </a:xfrm>
          <a:prstGeom prst="roundRect">
            <a:avLst>
              <a:gd name="adj" fmla="val 45041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4091" y="5970687"/>
            <a:ext cx="2065583" cy="128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FRONTEND DEVELOPMENT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38576" y="538474"/>
            <a:ext cx="6576650" cy="849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dirty="0" smtClean="0">
                <a:solidFill>
                  <a:srgbClr val="DCE6F8"/>
                </a:solidFill>
                <a:latin typeface="Times New Roman" panose="02020603050405020304" pitchFamily="18" charset="0"/>
                <a:ea typeface="Schibsted Grotesk" pitchFamily="34" charset="-122"/>
                <a:cs typeface="Times New Roman" panose="02020603050405020304" pitchFamily="18" charset="0"/>
              </a:rPr>
              <a:t>Purpose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38576" y="2210585"/>
            <a:ext cx="10868547" cy="1051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  <a:spcAft>
                <a:spcPts val="1650"/>
              </a:spcAft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self-service digital hotel management portal that streamlines the guest check-in and check-out processes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reducing front-desk workload and enhancing guest experience through automation.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36175" y="4078188"/>
            <a:ext cx="3516125" cy="50800"/>
          </a:xfrm>
          <a:prstGeom prst="rect">
            <a:avLst/>
          </a:prstGeom>
          <a:solidFill>
            <a:srgbClr val="4674E1"/>
          </a:solidFill>
          <a:ln/>
        </p:spPr>
      </p:sp>
      <p:sp>
        <p:nvSpPr>
          <p:cNvPr id="7" name="Text 5"/>
          <p:cNvSpPr/>
          <p:nvPr/>
        </p:nvSpPr>
        <p:spPr>
          <a:xfrm>
            <a:off x="661574" y="4318000"/>
            <a:ext cx="2598970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Digitize Operations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61574" y="4743351"/>
            <a:ext cx="3465327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Replace paper-based registration and manual billing with a seamless digital workflow.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37735" y="4078188"/>
            <a:ext cx="3516125" cy="50800"/>
          </a:xfrm>
          <a:prstGeom prst="rect">
            <a:avLst/>
          </a:prstGeom>
          <a:solidFill>
            <a:srgbClr val="8FADEB"/>
          </a:solidFill>
          <a:ln/>
        </p:spPr>
      </p:sp>
      <p:sp>
        <p:nvSpPr>
          <p:cNvPr id="10" name="Text 8"/>
          <p:cNvSpPr/>
          <p:nvPr/>
        </p:nvSpPr>
        <p:spPr>
          <a:xfrm>
            <a:off x="4363135" y="4318000"/>
            <a:ext cx="2598970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Reduce Wait Time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363135" y="4743351"/>
            <a:ext cx="3465327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Eliminate long queues at reception through online check-in and express check-out.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39296" y="4078188"/>
            <a:ext cx="3516225" cy="50800"/>
          </a:xfrm>
          <a:prstGeom prst="rect">
            <a:avLst/>
          </a:prstGeom>
          <a:solidFill>
            <a:srgbClr val="DCE6F8"/>
          </a:solidFill>
          <a:ln/>
        </p:spPr>
      </p:sp>
      <p:sp>
        <p:nvSpPr>
          <p:cNvPr id="13" name="Text 11"/>
          <p:cNvSpPr/>
          <p:nvPr/>
        </p:nvSpPr>
        <p:spPr>
          <a:xfrm>
            <a:off x="8064695" y="4318000"/>
            <a:ext cx="2598970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Empower Admins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064695" y="4743351"/>
            <a:ext cx="3465426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Provide hotel staff with a powerful dashboard to manage guests, rooms, and records.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46415" y="455811"/>
            <a:ext cx="11189809" cy="731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46415" y="1991152"/>
            <a:ext cx="10868547" cy="949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2000" dirty="0">
                <a:solidFill>
                  <a:srgbClr val="DCE6F8"/>
                </a:solidFill>
                <a:latin typeface="Times New Roman" panose="02020603050405020304" pitchFamily="18" charset="0"/>
                <a:ea typeface="Schibsted Grotesk" pitchFamily="34" charset="-122"/>
                <a:cs typeface="Times New Roman" panose="02020603050405020304" pitchFamily="18" charset="0"/>
              </a:rPr>
              <a:t>Many hotels still depend on manual registration and billing systems. These outdated processes reduce customer satisfaction and significantly increase staff workload across every stage of the guest journey.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36175" y="3525341"/>
            <a:ext cx="5341506" cy="96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01380" y="3550741"/>
            <a:ext cx="2860901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Long Reception Queues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01380" y="3976092"/>
            <a:ext cx="5076301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Guests face extended waiting times at the front desk due to manual check-in and ID verification processes.</a:t>
            </a:r>
            <a:endParaRPr lang="en-US" sz="14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188515" y="3525341"/>
            <a:ext cx="5341605" cy="96748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53721" y="3550741"/>
            <a:ext cx="3052091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Paper-Based Registration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453721" y="3976092"/>
            <a:ext cx="507640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Manual, error-prone paperwork slows down room allocation and increases administrative overhead.</a:t>
            </a:r>
            <a:endParaRPr lang="en-US" sz="1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36175" y="4820047"/>
            <a:ext cx="5341506" cy="96748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01380" y="4845447"/>
            <a:ext cx="3011809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Slow Check-Out &amp; Billing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901380" y="5270798"/>
            <a:ext cx="5076301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Manual invoice preparation causes delays at check-out, leading to frustration for both guests and staff.</a:t>
            </a:r>
            <a:endParaRPr lang="en-US" sz="14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6188515" y="4820047"/>
            <a:ext cx="5341605" cy="96748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53721" y="4845447"/>
            <a:ext cx="3136822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Poor Record Management</a:t>
            </a:r>
            <a:endParaRPr lang="en-US" sz="2000" dirty="0"/>
          </a:p>
        </p:txBody>
      </p:sp>
      <p:sp>
        <p:nvSpPr>
          <p:cNvPr id="17" name="Text 11"/>
          <p:cNvSpPr/>
          <p:nvPr/>
        </p:nvSpPr>
        <p:spPr>
          <a:xfrm>
            <a:off x="6453721" y="5270798"/>
            <a:ext cx="507640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Difficulty maintaining accurate guest records and booking history hampers reporting and operational insights.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31660" y="485533"/>
            <a:ext cx="6967165" cy="846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dirty="0" smtClean="0">
                <a:solidFill>
                  <a:srgbClr val="DCE6F8"/>
                </a:solidFill>
                <a:latin typeface="Times New Roman" panose="02020603050405020304" pitchFamily="18" charset="0"/>
                <a:ea typeface="Schibsted Grotesk" pitchFamily="34" charset="-122"/>
                <a:cs typeface="Times New Roman" panose="02020603050405020304" pitchFamily="18" charset="0"/>
              </a:rPr>
              <a:t>Goals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31660" y="2865762"/>
            <a:ext cx="10868547" cy="2201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primary goal of this project is to create a fully digital self-service hotel management system that streamlines the guest journey from check-in to check-out. Key objectives include reducing check-in time to under 3 minutes, eliminating manual errors in room assignment, providing instant PDF invoices at check-out, and reducing front-desk workload by 60%. Additional goals include maintaining complete guest history, enabling real-time occupancy tracking through an admin dashboard, and ensuring a responsive, user-friendly experience across all devices.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61574" y="2137866"/>
            <a:ext cx="11022426" cy="3653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Scope: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The portal includes user authentication (signup, login, logout), digital check-in with auto room </a:t>
            </a:r>
            <a:endParaRPr lang="en-US" sz="20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assignment, room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 and digital key simulation, express check-out with invoice generation, 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guest</a:t>
            </a:r>
          </a:p>
          <a:p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management, 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stay history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search functionality, admin dashboard with occupancy statistics, </a:t>
            </a:r>
            <a:endParaRPr lang="en-US" sz="20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in-app notifications. The system 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data persistence and is built with React.js 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</a:p>
          <a:p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Bootstrap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a responsive interface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 of Scope: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Payment gateway integration, actual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door lock control, mobile applications, </a:t>
            </a:r>
            <a:endParaRPr lang="en-US" sz="20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multi-property management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third-party booking platform integration, staff role management, </a:t>
            </a:r>
            <a:endParaRPr lang="en-US" sz="20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housekeeping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modules, 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SMS/email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notifications, and advanced business analytics are not </a:t>
            </a:r>
            <a:endParaRPr lang="en-US" sz="20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included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this MVP version.</a:t>
            </a:r>
          </a:p>
          <a:p>
            <a:r>
              <a:rPr lang="en-US" sz="4400" dirty="0">
                <a:solidFill>
                  <a:schemeClr val="bg1"/>
                </a:solidFill>
              </a:rPr>
              <a:t/>
            </a:r>
            <a:br>
              <a:rPr lang="en-US" sz="4400" dirty="0">
                <a:solidFill>
                  <a:schemeClr val="bg1"/>
                </a:solidFill>
              </a:rPr>
            </a:br>
            <a:endParaRPr lang="en-US" sz="4050" dirty="0">
              <a:solidFill>
                <a:schemeClr val="bg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61574" y="492035"/>
            <a:ext cx="195462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endParaRPr lang="en-IN" sz="48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29322" y="488434"/>
            <a:ext cx="158408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endParaRPr lang="en-IN" sz="48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29322" y="1913741"/>
            <a:ext cx="1076417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Guests: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Hotel customers who use the portal for self-service check-in, digital key access, express check-out, viewing stay history, and managing their profiles. They value speed, convenience, and a contactless experience.</a:t>
            </a:r>
          </a:p>
          <a:p>
            <a:endParaRPr lang="en-US" sz="20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 Desk Staff: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Hotel employees who monitor guest activities and manage operations through the admin dashboard. They benefit from reduced manual workload and real-time occupancy visibility.</a:t>
            </a:r>
          </a:p>
          <a:p>
            <a:endParaRPr lang="en-US" sz="20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Hotel Admin: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Property managers who oversee hotel operations, track room availability, view guest statistics, and access complete stay records through the dashboard. They gain data-driven insights for better decision-making.</a:t>
            </a:r>
          </a:p>
          <a:p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1543" y="463034"/>
            <a:ext cx="618470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lang="en-IN" sz="48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61543" y="2398743"/>
            <a:ext cx="1092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Signup, login, logout with password validation and duplicate email 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prevention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Check-in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Auto-populated form with room assignment from available 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inventory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Room &amp; Digital Key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Display assigned room details with simulated unlock 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functionality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Express Check-out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Record departure time, archive guest data, generate PDF 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invoices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Stay History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View all stays with status badges and name-based 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Real-time stats: total guests, occupied/available rooms, today's check-ins, recent 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guests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Guest Profile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View and manage personal information and current stay 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details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Success/error alerts for all user actions</a:t>
            </a:r>
            <a:endParaRPr lang="en-US" sz="20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864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339" y="475734"/>
            <a:ext cx="671690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</a:t>
            </a:r>
            <a:endParaRPr lang="en-IN" sz="44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339" y="2736840"/>
            <a:ext cx="1092936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Page load &lt;2 seconds, check-in processing &lt;500ms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Responsive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Works on desktop, tablet, and mobile devices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Reliability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100% data persistence with </a:t>
            </a:r>
            <a:r>
              <a:rPr lang="en-IN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Protected routes require authentication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Maintainability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Modular code with consistent naming conventions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Usability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User-friendly error messages and intuitive navigation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Compatibility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Supports all modern browsers and operating systems</a:t>
            </a:r>
            <a:endParaRPr lang="en-IN" sz="20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420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9337" y="234434"/>
            <a:ext cx="508504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Acceptance Criteria</a:t>
            </a:r>
            <a:endParaRPr lang="en-IN" sz="48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89337" y="1380847"/>
            <a:ext cx="10891463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Users can signup, login, and logout; invalid credentials are rejected; protected pages require login.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Check-in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Form auto-fills user data; system assigns an available room without duplicates; confirmation appears; redirects to room page within 2 seconds.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Room Display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Shows guest name and room number for active stays; displays "No active check-in" when no guest is checked in.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Key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Displays room and guest name; "Unlock" button shows success message for active guests and error alert for inactive guests.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Check-out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Records check-out time; archives guest data; shows confirmation; redirects to history page.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Invoice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Displays guest name, room number, date, and invoice number; generates downloadable PDF.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History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Shows all stays with status badges (Active/Checked Out); search filters by guest name.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Accurately displays: total guests, occupied rooms, available rooms (30 total), today's check-ins, and recent 5 guests.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 Validation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All forms validate inputs; shows clear error messages for invalid entries.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UI/UX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All pages render correctly with consistent navigation; fully responsive on all devices.</a:t>
            </a:r>
            <a:endParaRPr lang="en-US" sz="20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7018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1158338"/>
            <a:ext cx="8382000" cy="548020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9871" y="43934"/>
            <a:ext cx="550977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4800" b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227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538" y="1968416"/>
            <a:ext cx="6159629" cy="401309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0245" y="526534"/>
            <a:ext cx="554510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CO'S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332118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774" y="1863644"/>
            <a:ext cx="6054650" cy="392755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5441" y="399534"/>
            <a:ext cx="50276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 </a:t>
            </a:r>
          </a:p>
        </p:txBody>
      </p:sp>
    </p:spTree>
    <p:extLst>
      <p:ext uri="{BB962C8B-B14F-4D97-AF65-F5344CB8AC3E}">
        <p14:creationId xmlns:p14="http://schemas.microsoft.com/office/powerpoint/2010/main" val="991395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344289"/>
            <a:ext cx="5807525" cy="623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dirty="0">
                <a:solidFill>
                  <a:srgbClr val="DCE6F8"/>
                </a:solidFill>
                <a:latin typeface="Times New Roman" panose="02020603050405020304" pitchFamily="18" charset="0"/>
                <a:ea typeface="Schibsted Grotesk" pitchFamily="34" charset="-122"/>
                <a:cs typeface="Times New Roman" panose="02020603050405020304" pitchFamily="18" charset="0"/>
              </a:rPr>
              <a:t>Conclusion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61574" y="2274838"/>
            <a:ext cx="1085732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Hotel Check-In &amp; Check-Out Portal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successfully digitizes hotel operations, reducing check-in time from 15 to 3 minutes (80% faster), eliminating manual room assignment errors, and cutting front-desk workload by 60%. With 10+ functional modules (Authentication, Check-in, Room, Digital Key, Check-out, Invoice, Profile, History, Admin Dashboard, Notifications), the system provides a complete end-to-end guest management solution.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2493367"/>
            <a:ext cx="10831926" cy="1871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250" dirty="0">
                <a:solidFill>
                  <a:srgbClr val="DCE6F8"/>
                </a:solidFill>
                <a:latin typeface="Times New Roman" panose="02020603050405020304" pitchFamily="18" charset="0"/>
                <a:ea typeface="Schibsted Grotesk" pitchFamily="34" charset="-122"/>
                <a:cs typeface="Times New Roman" panose="02020603050405020304" pitchFamily="18" charset="0"/>
              </a:rPr>
              <a:t>Thank You</a:t>
            </a:r>
            <a:endParaRPr lang="en-US" sz="1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601</TotalTime>
  <Words>349</Words>
  <Application>Microsoft Office PowerPoint</Application>
  <PresentationFormat>Widescreen</PresentationFormat>
  <Paragraphs>94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Schibsted Grotesk</vt:lpstr>
      <vt:lpstr>Times New Roman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LUCKY</dc:creator>
  <cp:lastModifiedBy>LUCKY</cp:lastModifiedBy>
  <cp:revision>9</cp:revision>
  <dcterms:created xsi:type="dcterms:W3CDTF">2026-06-19T15:36:01Z</dcterms:created>
  <dcterms:modified xsi:type="dcterms:W3CDTF">2026-06-20T04:16:26Z</dcterms:modified>
</cp:coreProperties>
</file>